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47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1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905" y="6515100"/>
            <a:ext cx="27093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 AI • AWS Case Competition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8153705" y="3305556"/>
            <a:ext cx="3047695" cy="3047695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09905" y="771754"/>
            <a:ext cx="992581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kern="0" spc="-112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SafeRoute AI: </a:t>
            </a:r>
            <a:r>
              <a:rPr lang="en-US" sz="4500" b="1" kern="0" spc="-112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</a:t>
            </a:r>
            <a:r>
              <a:rPr lang="en-US" sz="4500" b="1" kern="0" spc="-112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12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Congestion-Aware Evacuation </a:t>
            </a:r>
            <a:endParaRPr lang="en-US" sz="4500" dirty="0"/>
          </a:p>
        </p:txBody>
      </p:sp>
      <p:sp>
        <p:nvSpPr>
          <p:cNvPr id="7" name="Shape 4"/>
          <p:cNvSpPr/>
          <p:nvPr/>
        </p:nvSpPr>
        <p:spPr>
          <a:xfrm>
            <a:off x="609905" y="2352751"/>
            <a:ext cx="38405" cy="418795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76910" y="2352751"/>
            <a:ext cx="962040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Evacuation is a coordination problem—not a lack of exits.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23798" y="3305556"/>
            <a:ext cx="33439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Coordinates Crowds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23798" y="3648456"/>
            <a:ext cx="38276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bottlenecks before they form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3798" y="4219956"/>
            <a:ext cx="4248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Guidance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23798" y="4562856"/>
            <a:ext cx="4819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under imperfect data &amp; partial compliance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00607" y="5134356"/>
            <a:ext cx="43918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on AWS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00607" y="5477256"/>
            <a:ext cx="49633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Scalable, serverless, managed-service architecture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9904" b="-9904"/>
          <a:stretch/>
        </p:blipFill>
        <p:spPr>
          <a:xfrm>
            <a:off x="609905" y="3343046"/>
            <a:ext cx="286207" cy="342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9904" b="-9904"/>
          <a:stretch/>
        </p:blipFill>
        <p:spPr>
          <a:xfrm>
            <a:off x="609905" y="4257446"/>
            <a:ext cx="286207" cy="34290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9186" b="-9186"/>
          <a:stretch/>
        </p:blipFill>
        <p:spPr>
          <a:xfrm>
            <a:off x="609905" y="5171846"/>
            <a:ext cx="362102" cy="34290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9045245" y="3228746"/>
            <a:ext cx="685800" cy="91440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 t="-16423" b="-16423"/>
          <a:stretch/>
        </p:blipFill>
        <p:spPr>
          <a:xfrm>
            <a:off x="8968435" y="5057546"/>
            <a:ext cx="171907" cy="304495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>
            <a:alphaModFix amt="60000"/>
          </a:blip>
          <a:srcRect t="-26497" b="-26497"/>
          <a:stretch/>
        </p:blipFill>
        <p:spPr>
          <a:xfrm>
            <a:off x="9254642" y="5076749"/>
            <a:ext cx="152705" cy="267005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>
            <a:alphaModFix amt="60000"/>
          </a:blip>
          <a:srcRect t="-16494" b="-16494"/>
          <a:stretch/>
        </p:blipFill>
        <p:spPr>
          <a:xfrm>
            <a:off x="9520733" y="5057546"/>
            <a:ext cx="286207" cy="304495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rcRect t="-21" b="-21"/>
          <a:stretch/>
        </p:blipFill>
        <p:spPr>
          <a:xfrm>
            <a:off x="6858000" y="5086807"/>
            <a:ext cx="4876495" cy="1314907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162495" y="5315407"/>
            <a:ext cx="4457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24" name="Text 13"/>
          <p:cNvSpPr txBox="1"/>
          <p:nvPr/>
        </p:nvSpPr>
        <p:spPr>
          <a:xfrm>
            <a:off x="7162495" y="5544007"/>
            <a:ext cx="44293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"Coordinating flow beats routing individuals."</a:t>
            </a:r>
            <a:endParaRPr lang="en-US" sz="18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778240" y="3685946"/>
            <a:ext cx="1218895" cy="1218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095" y="1333195"/>
            <a:ext cx="111255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33095" y="418795"/>
            <a:ext cx="11315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 optimize crowd flow, </a:t>
            </a:r>
            <a:r>
              <a:rPr lang="en-US" sz="2700" b="1" kern="0" spc="-67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individual routes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33095" y="875995"/>
            <a:ext cx="11239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System-level coordination prevents exit overload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533095" y="1571854"/>
            <a:ext cx="5909767" cy="49057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3154" y="1580998"/>
            <a:ext cx="1304849" cy="35204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43154" y="1580998"/>
            <a:ext cx="1305763" cy="352958"/>
          </a:xfrm>
          <a:prstGeom prst="rect">
            <a:avLst/>
          </a:prstGeom>
          <a:solidFill>
            <a:srgbClr val="232F3E"/>
          </a:solidFill>
          <a:ln w="2540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38858" y="1580998"/>
            <a:ext cx="1304849" cy="35204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838858" y="1580998"/>
            <a:ext cx="1305763" cy="352958"/>
          </a:xfrm>
          <a:prstGeom prst="rect">
            <a:avLst/>
          </a:prstGeom>
          <a:solidFill>
            <a:srgbClr val="232F3E"/>
          </a:solidFill>
          <a:ln w="2540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Signage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134563" y="1580998"/>
            <a:ext cx="1304849" cy="35204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134563" y="1580998"/>
            <a:ext cx="1305763" cy="352958"/>
          </a:xfrm>
          <a:prstGeom prst="rect">
            <a:avLst/>
          </a:prstGeom>
          <a:solidFill>
            <a:srgbClr val="232F3E"/>
          </a:solidFill>
          <a:ln w="2540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 Apps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430268" y="1580998"/>
            <a:ext cx="2009851" cy="35204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750308" y="1580998"/>
            <a:ext cx="1689811" cy="352958"/>
          </a:xfrm>
          <a:prstGeom prst="rect">
            <a:avLst/>
          </a:prstGeom>
          <a:solidFill>
            <a:srgbClr val="232F3E"/>
          </a:solidFill>
          <a:ln w="2540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SafeRoute AI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3154" y="1933956"/>
            <a:ext cx="1304849" cy="771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43154" y="1933956"/>
            <a:ext cx="1305763" cy="77175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838858" y="2696566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1838858" y="1933956"/>
            <a:ext cx="1362456" cy="6766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egress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134563" y="2696566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3134563" y="1933956"/>
            <a:ext cx="1362456" cy="6766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Shortest path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430268" y="1933956"/>
            <a:ext cx="2009851" cy="771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430268" y="1933956"/>
            <a:ext cx="2009851" cy="771754"/>
          </a:xfrm>
          <a:prstGeom prst="rect">
            <a:avLst/>
          </a:prstGeom>
          <a:solidFill>
            <a:srgbClr val="FFF8E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7D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exit flow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3154" y="2699309"/>
            <a:ext cx="1304849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43154" y="2699309"/>
            <a:ext cx="1305763" cy="76261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1838858" y="3451860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1838858" y="2699309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Floor maps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134563" y="3451860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3134563" y="2699309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GPS / User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430268" y="2699309"/>
            <a:ext cx="2009851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430268" y="2699309"/>
            <a:ext cx="2009851" cy="762610"/>
          </a:xfrm>
          <a:prstGeom prst="rect">
            <a:avLst/>
          </a:prstGeom>
          <a:solidFill>
            <a:srgbClr val="FFF8E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aggregate signals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43154" y="3454603"/>
            <a:ext cx="1304849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543154" y="3454603"/>
            <a:ext cx="1305763" cy="76261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Unit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1838858" y="4207154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1838858" y="3454603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3134563" y="4207154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3134563" y="3454603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430268" y="3454603"/>
            <a:ext cx="2009851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430268" y="3454603"/>
            <a:ext cx="2009851" cy="762610"/>
          </a:xfrm>
          <a:prstGeom prst="rect">
            <a:avLst/>
          </a:prstGeom>
          <a:solidFill>
            <a:srgbClr val="FFF8E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Orchestrator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43154" y="4209898"/>
            <a:ext cx="1304849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43154" y="4209898"/>
            <a:ext cx="1305763" cy="76261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Congestion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1838858" y="4962449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1838858" y="4209898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Ignores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3134563" y="4962449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3134563" y="4209898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Reacts late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430268" y="4209898"/>
            <a:ext cx="2009851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430268" y="4209898"/>
            <a:ext cx="2009851" cy="762610"/>
          </a:xfrm>
          <a:prstGeom prst="rect">
            <a:avLst/>
          </a:prstGeom>
          <a:solidFill>
            <a:srgbClr val="FFF8E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rebalance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543154" y="4966106"/>
            <a:ext cx="1304849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543154" y="4966106"/>
            <a:ext cx="1305763" cy="76261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Checks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1838858" y="5718658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1838858" y="4966106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N/A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3134563" y="5718658"/>
            <a:ext cx="13048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 txBox="1"/>
          <p:nvPr/>
        </p:nvSpPr>
        <p:spPr>
          <a:xfrm>
            <a:off x="3134563" y="4966106"/>
            <a:ext cx="1362456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4430268" y="4966106"/>
            <a:ext cx="2009851" cy="7616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4430268" y="4966106"/>
            <a:ext cx="2009851" cy="762610"/>
          </a:xfrm>
          <a:prstGeom prst="rect">
            <a:avLst/>
          </a:prstGeom>
          <a:solidFill>
            <a:srgbClr val="FFF8E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Policy-first validation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543154" y="5721401"/>
            <a:ext cx="5896051" cy="752551"/>
          </a:xfrm>
          <a:prstGeom prst="roundRect">
            <a:avLst>
              <a:gd name="adj" fmla="val 1230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543154" y="5721401"/>
            <a:ext cx="1304849" cy="7525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543154" y="5721401"/>
            <a:ext cx="1305763" cy="752551"/>
          </a:xfrm>
          <a:prstGeom prst="rect">
            <a:avLst/>
          </a:prstGeom>
          <a:solidFill>
            <a:srgbClr val="F9FA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</a:t>
            </a:r>
            <a:endParaRPr lang="en-US" sz="1100" dirty="0"/>
          </a:p>
        </p:txBody>
      </p:sp>
      <p:sp>
        <p:nvSpPr>
          <p:cNvPr id="59" name="Text 55"/>
          <p:cNvSpPr txBox="1"/>
          <p:nvPr/>
        </p:nvSpPr>
        <p:spPr>
          <a:xfrm>
            <a:off x="1838858" y="5711343"/>
            <a:ext cx="1362455" cy="76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Herding</a:t>
            </a:r>
            <a:endParaRPr lang="en-US" sz="1100" dirty="0"/>
          </a:p>
        </p:txBody>
      </p:sp>
      <p:sp>
        <p:nvSpPr>
          <p:cNvPr id="60" name="Text 56"/>
          <p:cNvSpPr txBox="1"/>
          <p:nvPr/>
        </p:nvSpPr>
        <p:spPr>
          <a:xfrm>
            <a:off x="3134563" y="5721401"/>
            <a:ext cx="136245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Convergence</a:t>
            </a:r>
            <a:endParaRPr lang="en-US" sz="1100" dirty="0"/>
          </a:p>
        </p:txBody>
      </p:sp>
      <p:sp>
        <p:nvSpPr>
          <p:cNvPr id="61" name="Shape 57"/>
          <p:cNvSpPr/>
          <p:nvPr/>
        </p:nvSpPr>
        <p:spPr>
          <a:xfrm>
            <a:off x="4430268" y="5721401"/>
            <a:ext cx="2009851" cy="7525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4427525" y="5734333"/>
            <a:ext cx="2012594" cy="752551"/>
          </a:xfrm>
          <a:prstGeom prst="rect">
            <a:avLst/>
          </a:prstGeom>
          <a:solidFill>
            <a:srgbClr val="FFF8EB"/>
          </a:solidFill>
          <a:ln w="2540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7D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Distributed Load</a:t>
            </a:r>
            <a:endParaRPr lang="en-US" sz="1100" dirty="0"/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rcRect l="-4000" r="-4000"/>
          <a:stretch/>
        </p:blipFill>
        <p:spPr>
          <a:xfrm>
            <a:off x="4554626" y="1690726"/>
            <a:ext cx="123444" cy="114300"/>
          </a:xfrm>
          <a:prstGeom prst="rect">
            <a:avLst/>
          </a:prstGeom>
        </p:spPr>
      </p:pic>
      <p:sp>
        <p:nvSpPr>
          <p:cNvPr id="65" name="Shape 59"/>
          <p:cNvSpPr/>
          <p:nvPr/>
        </p:nvSpPr>
        <p:spPr>
          <a:xfrm>
            <a:off x="6625406" y="1179356"/>
            <a:ext cx="4463708" cy="4276649"/>
          </a:xfrm>
          <a:prstGeom prst="roundRect">
            <a:avLst>
              <a:gd name="adj" fmla="val 2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4" descr="preencoded.png"/>
          <p:cNvPicPr>
            <a:picLocks noChangeAspect="1"/>
          </p:cNvPicPr>
          <p:nvPr/>
        </p:nvPicPr>
        <p:blipFill>
          <a:blip r:embed="rId6"/>
          <a:srcRect l="-78" r="-78"/>
          <a:stretch/>
        </p:blipFill>
        <p:spPr>
          <a:xfrm>
            <a:off x="6793682" y="782983"/>
            <a:ext cx="4094263" cy="386315"/>
          </a:xfrm>
          <a:prstGeom prst="rect">
            <a:avLst/>
          </a:prstGeom>
        </p:spPr>
      </p:pic>
      <p:sp>
        <p:nvSpPr>
          <p:cNvPr id="67" name="Shape 60"/>
          <p:cNvSpPr/>
          <p:nvPr/>
        </p:nvSpPr>
        <p:spPr>
          <a:xfrm>
            <a:off x="6793682" y="804209"/>
            <a:ext cx="4094263" cy="36508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/>
          <p:nvPr/>
        </p:nvSpPr>
        <p:spPr>
          <a:xfrm>
            <a:off x="6793754" y="804325"/>
            <a:ext cx="4095106" cy="365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"Convergence" Problem vs. SafeRoute</a:t>
            </a:r>
            <a:endParaRPr lang="en-US" sz="1300" dirty="0"/>
          </a:p>
        </p:txBody>
      </p:sp>
      <p:sp>
        <p:nvSpPr>
          <p:cNvPr id="69" name="Shape 62"/>
          <p:cNvSpPr/>
          <p:nvPr/>
        </p:nvSpPr>
        <p:spPr>
          <a:xfrm>
            <a:off x="6793682" y="1601671"/>
            <a:ext cx="4094263" cy="1901176"/>
          </a:xfrm>
          <a:prstGeom prst="roundRect">
            <a:avLst>
              <a:gd name="adj" fmla="val 7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3"/>
          <p:cNvSpPr/>
          <p:nvPr/>
        </p:nvSpPr>
        <p:spPr>
          <a:xfrm>
            <a:off x="6624048" y="1431432"/>
            <a:ext cx="1054353" cy="16580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4"/>
          <p:cNvSpPr/>
          <p:nvPr/>
        </p:nvSpPr>
        <p:spPr>
          <a:xfrm>
            <a:off x="6624048" y="1431550"/>
            <a:ext cx="1054353" cy="166602"/>
          </a:xfrm>
          <a:prstGeom prst="rect">
            <a:avLst/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Nav Apps</a:t>
            </a:r>
            <a:endParaRPr lang="en-US" sz="900" dirty="0"/>
          </a:p>
        </p:txBody>
      </p:sp>
      <p:sp>
        <p:nvSpPr>
          <p:cNvPr id="72" name="Shape 65"/>
          <p:cNvSpPr/>
          <p:nvPr/>
        </p:nvSpPr>
        <p:spPr>
          <a:xfrm>
            <a:off x="7050763" y="2508623"/>
            <a:ext cx="702620" cy="265447"/>
          </a:xfrm>
          <a:prstGeom prst="roundRect">
            <a:avLst>
              <a:gd name="adj" fmla="val 3753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075163" y="2524498"/>
            <a:ext cx="79288" cy="87723"/>
          </a:xfrm>
          <a:prstGeom prst="rect">
            <a:avLst/>
          </a:prstGeom>
        </p:spPr>
      </p:pic>
      <p:pic>
        <p:nvPicPr>
          <p:cNvPr id="74" name="Image 6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179405" y="2524498"/>
            <a:ext cx="79288" cy="87723"/>
          </a:xfrm>
          <a:prstGeom prst="rect">
            <a:avLst/>
          </a:prstGeom>
        </p:spPr>
      </p:pic>
      <p:pic>
        <p:nvPicPr>
          <p:cNvPr id="75" name="Image 7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284561" y="2524498"/>
            <a:ext cx="79288" cy="87723"/>
          </a:xfrm>
          <a:prstGeom prst="rect">
            <a:avLst/>
          </a:prstGeom>
        </p:spPr>
      </p:pic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388802" y="2524498"/>
            <a:ext cx="79288" cy="87723"/>
          </a:xfrm>
          <a:prstGeom prst="rect">
            <a:avLst/>
          </a:prstGeom>
        </p:spPr>
      </p:pic>
      <p:pic>
        <p:nvPicPr>
          <p:cNvPr id="77" name="Image 9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493958" y="2524498"/>
            <a:ext cx="79288" cy="87723"/>
          </a:xfrm>
          <a:prstGeom prst="rect">
            <a:avLst/>
          </a:prstGeom>
        </p:spPr>
      </p:pic>
      <p:pic>
        <p:nvPicPr>
          <p:cNvPr id="78" name="Image 10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599114" y="2524498"/>
            <a:ext cx="79288" cy="87723"/>
          </a:xfrm>
          <a:prstGeom prst="rect">
            <a:avLst/>
          </a:prstGeom>
        </p:spPr>
      </p:pic>
      <p:pic>
        <p:nvPicPr>
          <p:cNvPr id="79" name="Image 11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231526" y="2638798"/>
            <a:ext cx="79288" cy="87723"/>
          </a:xfrm>
          <a:prstGeom prst="rect">
            <a:avLst/>
          </a:prstGeom>
        </p:spPr>
      </p:pic>
      <p:pic>
        <p:nvPicPr>
          <p:cNvPr id="80" name="Image 12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336682" y="2638798"/>
            <a:ext cx="79288" cy="87723"/>
          </a:xfrm>
          <a:prstGeom prst="rect">
            <a:avLst/>
          </a:prstGeom>
        </p:spPr>
      </p:pic>
      <p:pic>
        <p:nvPicPr>
          <p:cNvPr id="81" name="Image 13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441838" y="2638798"/>
            <a:ext cx="79288" cy="87723"/>
          </a:xfrm>
          <a:prstGeom prst="rect">
            <a:avLst/>
          </a:prstGeom>
        </p:spPr>
      </p:pic>
      <p:sp>
        <p:nvSpPr>
          <p:cNvPr id="82" name="Shape 66"/>
          <p:cNvSpPr/>
          <p:nvPr/>
        </p:nvSpPr>
        <p:spPr>
          <a:xfrm>
            <a:off x="6826088" y="2851523"/>
            <a:ext cx="1195214" cy="265447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67"/>
          <p:cNvSpPr txBox="1"/>
          <p:nvPr/>
        </p:nvSpPr>
        <p:spPr>
          <a:xfrm>
            <a:off x="7258428" y="2992734"/>
            <a:ext cx="334019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A</a:t>
            </a:r>
            <a:endParaRPr lang="en-US" sz="800" dirty="0"/>
          </a:p>
        </p:txBody>
      </p:sp>
      <p:sp>
        <p:nvSpPr>
          <p:cNvPr id="84" name="Text 68"/>
          <p:cNvSpPr txBox="1"/>
          <p:nvPr/>
        </p:nvSpPr>
        <p:spPr>
          <a:xfrm>
            <a:off x="7176119" y="3173785"/>
            <a:ext cx="518742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OVERLOAD</a:t>
            </a:r>
            <a:endParaRPr lang="en-US" sz="800" dirty="0"/>
          </a:p>
        </p:txBody>
      </p:sp>
      <p:sp>
        <p:nvSpPr>
          <p:cNvPr id="85" name="Text 69"/>
          <p:cNvSpPr txBox="1"/>
          <p:nvPr/>
        </p:nvSpPr>
        <p:spPr>
          <a:xfrm>
            <a:off x="8560740" y="3173785"/>
            <a:ext cx="325584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Empty</a:t>
            </a:r>
            <a:endParaRPr lang="en-US" sz="800" dirty="0"/>
          </a:p>
        </p:txBody>
      </p:sp>
      <p:sp>
        <p:nvSpPr>
          <p:cNvPr id="86" name="Shape 70"/>
          <p:cNvSpPr/>
          <p:nvPr/>
        </p:nvSpPr>
        <p:spPr>
          <a:xfrm>
            <a:off x="8120879" y="2851523"/>
            <a:ext cx="1195214" cy="265447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1"/>
          <p:cNvSpPr txBox="1"/>
          <p:nvPr/>
        </p:nvSpPr>
        <p:spPr>
          <a:xfrm>
            <a:off x="8554133" y="2992734"/>
            <a:ext cx="334019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32F3E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B</a:t>
            </a:r>
            <a:endParaRPr lang="en-US" sz="800" dirty="0"/>
          </a:p>
        </p:txBody>
      </p:sp>
      <p:sp>
        <p:nvSpPr>
          <p:cNvPr id="88" name="Text 72"/>
          <p:cNvSpPr txBox="1"/>
          <p:nvPr/>
        </p:nvSpPr>
        <p:spPr>
          <a:xfrm>
            <a:off x="9854616" y="3173785"/>
            <a:ext cx="325584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Empty</a:t>
            </a:r>
            <a:endParaRPr lang="en-US" sz="800" dirty="0"/>
          </a:p>
        </p:txBody>
      </p:sp>
      <p:sp>
        <p:nvSpPr>
          <p:cNvPr id="89" name="Shape 73"/>
          <p:cNvSpPr/>
          <p:nvPr/>
        </p:nvSpPr>
        <p:spPr>
          <a:xfrm>
            <a:off x="9414755" y="2851523"/>
            <a:ext cx="1195214" cy="265447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4"/>
          <p:cNvSpPr txBox="1"/>
          <p:nvPr/>
        </p:nvSpPr>
        <p:spPr>
          <a:xfrm>
            <a:off x="9848009" y="2992734"/>
            <a:ext cx="334019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32F3E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C</a:t>
            </a:r>
            <a:endParaRPr lang="en-US" sz="800" dirty="0"/>
          </a:p>
        </p:txBody>
      </p:sp>
      <p:pic>
        <p:nvPicPr>
          <p:cNvPr id="91" name="Image 14" descr="preencoded.png"/>
          <p:cNvPicPr>
            <a:picLocks noChangeAspect="1"/>
          </p:cNvPicPr>
          <p:nvPr/>
        </p:nvPicPr>
        <p:blipFill>
          <a:blip r:embed="rId8">
            <a:alphaModFix amt="40000"/>
          </a:blip>
          <a:srcRect t="-2100" b="-2100"/>
          <a:stretch/>
        </p:blipFill>
        <p:spPr>
          <a:xfrm>
            <a:off x="8473726" y="2196542"/>
            <a:ext cx="421741" cy="439454"/>
          </a:xfrm>
          <a:prstGeom prst="rect">
            <a:avLst/>
          </a:prstGeom>
        </p:spPr>
      </p:pic>
      <p:pic>
        <p:nvPicPr>
          <p:cNvPr id="92" name="Image 15" descr="preencoded.png"/>
          <p:cNvPicPr>
            <a:picLocks noChangeAspect="1"/>
          </p:cNvPicPr>
          <p:nvPr/>
        </p:nvPicPr>
        <p:blipFill>
          <a:blip r:embed="rId9"/>
          <a:srcRect l="-5" r="-5"/>
          <a:stretch/>
        </p:blipFill>
        <p:spPr>
          <a:xfrm>
            <a:off x="6793398" y="3818850"/>
            <a:ext cx="4090889" cy="2007488"/>
          </a:xfrm>
          <a:prstGeom prst="rect">
            <a:avLst/>
          </a:prstGeom>
        </p:spPr>
      </p:pic>
      <p:sp>
        <p:nvSpPr>
          <p:cNvPr id="93" name="Shape 75"/>
          <p:cNvSpPr/>
          <p:nvPr/>
        </p:nvSpPr>
        <p:spPr>
          <a:xfrm>
            <a:off x="6599652" y="3760409"/>
            <a:ext cx="764195" cy="16580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76"/>
          <p:cNvSpPr/>
          <p:nvPr/>
        </p:nvSpPr>
        <p:spPr>
          <a:xfrm>
            <a:off x="6599724" y="3760527"/>
            <a:ext cx="765039" cy="166602"/>
          </a:xfrm>
          <a:prstGeom prst="rect">
            <a:avLst/>
          </a:prstGeom>
          <a:solidFill>
            <a:srgbClr val="FFEDD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7D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 AI</a:t>
            </a:r>
            <a:endParaRPr lang="en-US" sz="900" dirty="0"/>
          </a:p>
        </p:txBody>
      </p:sp>
      <p:pic>
        <p:nvPicPr>
          <p:cNvPr id="95" name="Image 16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7231526" y="5196375"/>
            <a:ext cx="79288" cy="87723"/>
          </a:xfrm>
          <a:prstGeom prst="rect">
            <a:avLst/>
          </a:prstGeom>
        </p:spPr>
      </p:pic>
      <p:pic>
        <p:nvPicPr>
          <p:cNvPr id="96" name="Image 1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7336682" y="5196375"/>
            <a:ext cx="79288" cy="87723"/>
          </a:xfrm>
          <a:prstGeom prst="rect">
            <a:avLst/>
          </a:prstGeom>
        </p:spPr>
      </p:pic>
      <p:pic>
        <p:nvPicPr>
          <p:cNvPr id="97" name="Image 18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7441838" y="5196375"/>
            <a:ext cx="79288" cy="87723"/>
          </a:xfrm>
          <a:prstGeom prst="rect">
            <a:avLst/>
          </a:prstGeom>
        </p:spPr>
      </p:pic>
      <p:sp>
        <p:nvSpPr>
          <p:cNvPr id="98" name="Shape 77"/>
          <p:cNvSpPr/>
          <p:nvPr/>
        </p:nvSpPr>
        <p:spPr>
          <a:xfrm>
            <a:off x="6826088" y="5361551"/>
            <a:ext cx="1195214" cy="265447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78"/>
          <p:cNvSpPr txBox="1"/>
          <p:nvPr/>
        </p:nvSpPr>
        <p:spPr>
          <a:xfrm>
            <a:off x="7258428" y="5502762"/>
            <a:ext cx="334019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A</a:t>
            </a:r>
            <a:endParaRPr lang="en-US" sz="800" dirty="0"/>
          </a:p>
        </p:txBody>
      </p:sp>
      <p:pic>
        <p:nvPicPr>
          <p:cNvPr id="100" name="Image 1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526316" y="5196375"/>
            <a:ext cx="79288" cy="87723"/>
          </a:xfrm>
          <a:prstGeom prst="rect">
            <a:avLst/>
          </a:prstGeom>
        </p:spPr>
      </p:pic>
      <p:pic>
        <p:nvPicPr>
          <p:cNvPr id="101" name="Image 20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630558" y="5196375"/>
            <a:ext cx="79288" cy="87723"/>
          </a:xfrm>
          <a:prstGeom prst="rect">
            <a:avLst/>
          </a:prstGeom>
        </p:spPr>
      </p:pic>
      <p:pic>
        <p:nvPicPr>
          <p:cNvPr id="102" name="Image 21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735714" y="5196375"/>
            <a:ext cx="79288" cy="87723"/>
          </a:xfrm>
          <a:prstGeom prst="rect">
            <a:avLst/>
          </a:prstGeom>
        </p:spPr>
      </p:pic>
      <p:sp>
        <p:nvSpPr>
          <p:cNvPr id="103" name="Shape 79"/>
          <p:cNvSpPr/>
          <p:nvPr/>
        </p:nvSpPr>
        <p:spPr>
          <a:xfrm>
            <a:off x="8120879" y="5361551"/>
            <a:ext cx="1195214" cy="265447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80"/>
          <p:cNvSpPr txBox="1"/>
          <p:nvPr/>
        </p:nvSpPr>
        <p:spPr>
          <a:xfrm>
            <a:off x="8554133" y="5502762"/>
            <a:ext cx="334019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B</a:t>
            </a:r>
            <a:endParaRPr lang="en-US" sz="800" dirty="0"/>
          </a:p>
        </p:txBody>
      </p:sp>
      <p:pic>
        <p:nvPicPr>
          <p:cNvPr id="105" name="Image 22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9820192" y="5196375"/>
            <a:ext cx="79288" cy="87723"/>
          </a:xfrm>
          <a:prstGeom prst="rect">
            <a:avLst/>
          </a:prstGeom>
        </p:spPr>
      </p:pic>
      <p:pic>
        <p:nvPicPr>
          <p:cNvPr id="106" name="Image 23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9925348" y="5196375"/>
            <a:ext cx="79288" cy="87723"/>
          </a:xfrm>
          <a:prstGeom prst="rect">
            <a:avLst/>
          </a:prstGeom>
        </p:spPr>
      </p:pic>
      <p:pic>
        <p:nvPicPr>
          <p:cNvPr id="107" name="Image 24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10029590" y="5196375"/>
            <a:ext cx="79288" cy="87723"/>
          </a:xfrm>
          <a:prstGeom prst="rect">
            <a:avLst/>
          </a:prstGeom>
        </p:spPr>
      </p:pic>
      <p:sp>
        <p:nvSpPr>
          <p:cNvPr id="108" name="Shape 81"/>
          <p:cNvSpPr/>
          <p:nvPr/>
        </p:nvSpPr>
        <p:spPr>
          <a:xfrm>
            <a:off x="9414755" y="5361551"/>
            <a:ext cx="1195214" cy="265447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82"/>
          <p:cNvSpPr txBox="1"/>
          <p:nvPr/>
        </p:nvSpPr>
        <p:spPr>
          <a:xfrm>
            <a:off x="9848009" y="5502762"/>
            <a:ext cx="334019" cy="12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C</a:t>
            </a:r>
            <a:endParaRPr lang="en-US" sz="800" dirty="0"/>
          </a:p>
        </p:txBody>
      </p:sp>
      <p:pic>
        <p:nvPicPr>
          <p:cNvPr id="110" name="Image 25" descr="preencoded.png"/>
          <p:cNvPicPr>
            <a:picLocks noChangeAspect="1"/>
          </p:cNvPicPr>
          <p:nvPr/>
        </p:nvPicPr>
        <p:blipFill>
          <a:blip r:embed="rId11">
            <a:alphaModFix amt="40000"/>
          </a:blip>
          <a:srcRect t="-16707" b="-16707"/>
          <a:stretch/>
        </p:blipFill>
        <p:spPr>
          <a:xfrm>
            <a:off x="8606607" y="4546018"/>
            <a:ext cx="131583" cy="280880"/>
          </a:xfrm>
          <a:prstGeom prst="rect">
            <a:avLst/>
          </a:prstGeom>
        </p:spPr>
      </p:pic>
      <p:pic>
        <p:nvPicPr>
          <p:cNvPr id="111" name="Image 26" descr="preencoded.png"/>
          <p:cNvPicPr>
            <a:picLocks noChangeAspect="1"/>
          </p:cNvPicPr>
          <p:nvPr/>
        </p:nvPicPr>
        <p:blipFill>
          <a:blip r:embed="rId12">
            <a:alphaModFix amt="40000"/>
          </a:blip>
          <a:srcRect l="-16192" r="-16192"/>
          <a:stretch/>
        </p:blipFill>
        <p:spPr>
          <a:xfrm>
            <a:off x="7883613" y="4548287"/>
            <a:ext cx="254732" cy="307871"/>
          </a:xfrm>
          <a:prstGeom prst="rect">
            <a:avLst/>
          </a:prstGeom>
        </p:spPr>
      </p:pic>
      <p:pic>
        <p:nvPicPr>
          <p:cNvPr id="112" name="Image 27" descr="preencoded.png"/>
          <p:cNvPicPr>
            <a:picLocks noChangeAspect="1"/>
          </p:cNvPicPr>
          <p:nvPr/>
        </p:nvPicPr>
        <p:blipFill>
          <a:blip r:embed="rId12">
            <a:alphaModFix amt="40000"/>
          </a:blip>
          <a:srcRect l="-16192" r="-16192"/>
          <a:stretch/>
        </p:blipFill>
        <p:spPr>
          <a:xfrm>
            <a:off x="9216809" y="4548287"/>
            <a:ext cx="254732" cy="307871"/>
          </a:xfrm>
          <a:prstGeom prst="rect">
            <a:avLst/>
          </a:prstGeom>
        </p:spPr>
      </p:pic>
      <p:pic>
        <p:nvPicPr>
          <p:cNvPr id="116" name="Image 29" descr="preencoded.png"/>
          <p:cNvPicPr>
            <a:picLocks noChangeAspect="1"/>
          </p:cNvPicPr>
          <p:nvPr/>
        </p:nvPicPr>
        <p:blipFill>
          <a:blip r:embed="rId13"/>
          <a:srcRect t="-5570" b="-5570"/>
          <a:stretch/>
        </p:blipFill>
        <p:spPr>
          <a:xfrm>
            <a:off x="10460348" y="5065868"/>
            <a:ext cx="395594" cy="3517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3095" y="1067105"/>
            <a:ext cx="111255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33095" y="304495"/>
            <a:ext cx="120325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Evacuation time is dominated by </a:t>
            </a:r>
            <a:r>
              <a:rPr lang="en-US" sz="2700" b="1" kern="0" spc="-67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bottlenecks</a:t>
            </a: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distance 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3095" y="724205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 delay outweighs travel time when demand exceeds capacity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3095" y="1304849"/>
            <a:ext cx="38405" cy="267005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304849"/>
            <a:ext cx="533369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Physics of Delay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533095" y="1647749"/>
            <a:ext cx="5372100" cy="30476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82089" y="4343400"/>
            <a:ext cx="28639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Queues explode when Demand &gt; Capacity 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86500" y="1304849"/>
            <a:ext cx="38405" cy="267005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439205" y="1304849"/>
            <a:ext cx="533369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It Happens: Exit Imbalance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6286500" y="1647749"/>
            <a:ext cx="5372100" cy="30476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95744" y="4343400"/>
            <a:ext cx="3762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entrance gets crushed while side exits sit empty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33095" y="4886554"/>
            <a:ext cx="5410505" cy="780898"/>
          </a:xfrm>
          <a:prstGeom prst="roundRect">
            <a:avLst>
              <a:gd name="adj" fmla="val 571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7454" y="5048402"/>
            <a:ext cx="228600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57454" y="5048402"/>
            <a:ext cx="228600" cy="228600"/>
          </a:xfrm>
          <a:prstGeom prst="rect">
            <a:avLst/>
          </a:prstGeom>
          <a:solidFill>
            <a:srgbClr val="232F3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00354" y="5009998"/>
            <a:ext cx="48966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delay accrues in </a:t>
            </a: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queues at constrained doors/stairs</a:t>
            </a:r>
            <a:r>
              <a:rPr lang="en-US" sz="13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during walking.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48095" y="4886554"/>
            <a:ext cx="5410505" cy="780898"/>
          </a:xfrm>
          <a:prstGeom prst="roundRect">
            <a:avLst>
              <a:gd name="adj" fmla="val 571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72454" y="5048402"/>
            <a:ext cx="228600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72454" y="5048402"/>
            <a:ext cx="228600" cy="228600"/>
          </a:xfrm>
          <a:prstGeom prst="rect">
            <a:avLst/>
          </a:prstGeom>
          <a:solidFill>
            <a:srgbClr val="232F3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715354" y="5009998"/>
            <a:ext cx="48966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 differences are </a:t>
            </a: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negligible</a:t>
            </a:r>
            <a:r>
              <a:rPr lang="en-US" sz="13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compared to minutes spent waiting in a crush.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rcRect l="-11" r="-11"/>
          <a:stretch/>
        </p:blipFill>
        <p:spPr>
          <a:xfrm>
            <a:off x="533095" y="5896051"/>
            <a:ext cx="11125505" cy="78089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8505" y="6057900"/>
            <a:ext cx="6315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838505" y="6248095"/>
            <a:ext cx="68872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save lives, we must </a:t>
            </a:r>
            <a:r>
              <a:rPr lang="en-US" sz="1500" b="1" dirty="0">
                <a:solidFill>
                  <a:srgbClr val="D17D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the bottlenecks</a:t>
            </a:r>
            <a:r>
              <a:rPr lang="en-US" sz="15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just find the shortest path. </a:t>
            </a:r>
            <a:endParaRPr lang="en-US" sz="15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 t="-5650" b="-5650"/>
          <a:stretch/>
        </p:blipFill>
        <p:spPr>
          <a:xfrm>
            <a:off x="11162995" y="6096305"/>
            <a:ext cx="256946" cy="381305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77263" y="4369918"/>
            <a:ext cx="133502" cy="133502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 t="-8" b="-8"/>
          <a:stretch/>
        </p:blipFill>
        <p:spPr>
          <a:xfrm>
            <a:off x="694944" y="1809598"/>
            <a:ext cx="5048402" cy="2457907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rcRect t="-8" b="-8"/>
          <a:stretch/>
        </p:blipFill>
        <p:spPr>
          <a:xfrm>
            <a:off x="6448349" y="1809598"/>
            <a:ext cx="5048402" cy="245790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33095" y="6590995"/>
            <a:ext cx="2324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 AI • AWS Case Competition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095" y="1105510"/>
            <a:ext cx="111255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33095" y="342900"/>
            <a:ext cx="11315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Reducing </a:t>
            </a:r>
            <a:r>
              <a:rPr lang="en-US" sz="2700" b="1" kern="0" spc="-67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density</a:t>
            </a: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causally reduces evacuation time 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33095" y="761695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Crowd dynamics follow a non-linear "fundamental diagram"—speed collapses when density spikes.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25689" y="1399946"/>
            <a:ext cx="3486607" cy="1028700"/>
          </a:xfrm>
          <a:prstGeom prst="roundRect">
            <a:avLst>
              <a:gd name="adj" fmla="val 6584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25689" y="1399946"/>
            <a:ext cx="38405" cy="1028700"/>
          </a:xfrm>
          <a:prstGeom prst="roundRect">
            <a:avLst>
              <a:gd name="adj" fmla="val 176366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216798" y="1552651"/>
            <a:ext cx="3258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Threshold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16798" y="1857146"/>
            <a:ext cx="32196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Once density exceeds ~2-3 people/m², flow speed drops precipitously.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25689" y="2581351"/>
            <a:ext cx="3486607" cy="1028700"/>
          </a:xfrm>
          <a:prstGeom prst="roundRect">
            <a:avLst>
              <a:gd name="adj" fmla="val 6584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25689" y="2581351"/>
            <a:ext cx="38405" cy="1028700"/>
          </a:xfrm>
          <a:prstGeom prst="roundRect">
            <a:avLst>
              <a:gd name="adj" fmla="val 176366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16798" y="2734056"/>
            <a:ext cx="3258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Non-Linear Gain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16798" y="3038551"/>
            <a:ext cx="32196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small reduction in peak load yields a </a:t>
            </a: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gain in clearance speed. 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533095" y="1266444"/>
            <a:ext cx="7263994" cy="2476195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64" r="-64"/>
          <a:stretch/>
        </p:blipFill>
        <p:spPr>
          <a:xfrm>
            <a:off x="657454" y="1543507"/>
            <a:ext cx="7019849" cy="2076602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38" r="-38"/>
          <a:stretch/>
        </p:blipFill>
        <p:spPr>
          <a:xfrm>
            <a:off x="5711342" y="2259482"/>
            <a:ext cx="990295" cy="32369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711342" y="2259482"/>
            <a:ext cx="990295" cy="32369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5977433" y="2259482"/>
            <a:ext cx="725119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Jam Density 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97296" y="2359152"/>
            <a:ext cx="114300" cy="1143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33095" y="3972154"/>
            <a:ext cx="11125505" cy="1714500"/>
          </a:xfrm>
          <a:prstGeom prst="roundRect">
            <a:avLst>
              <a:gd name="adj" fmla="val 35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694944" y="4095598"/>
            <a:ext cx="808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 Chain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1104595" y="4154119"/>
            <a:ext cx="2095805" cy="1352398"/>
          </a:xfrm>
          <a:prstGeom prst="roundRect">
            <a:avLst>
              <a:gd name="adj" fmla="val 3809"/>
            </a:avLst>
          </a:prstGeom>
          <a:solidFill>
            <a:srgbClr val="FFF8EB"/>
          </a:solidFill>
          <a:ln w="25400">
            <a:solidFill>
              <a:srgbClr val="FF990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-16600" b="-16600"/>
          <a:stretch/>
        </p:blipFill>
        <p:spPr>
          <a:xfrm>
            <a:off x="2038198" y="4325112"/>
            <a:ext cx="228600" cy="3044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38098" y="47439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Redistribute Flow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240841" y="5010912"/>
            <a:ext cx="182331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away from overloaded exits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353105" y="4714646"/>
            <a:ext cx="228600" cy="2286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3733495" y="4154119"/>
            <a:ext cx="2095805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t="-16600" b="-16600"/>
          <a:stretch/>
        </p:blipFill>
        <p:spPr>
          <a:xfrm>
            <a:off x="4667098" y="4325112"/>
            <a:ext cx="228600" cy="3044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866998" y="47439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Peak Density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3869741" y="5010912"/>
            <a:ext cx="182331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below critical jamming point</a:t>
            </a:r>
            <a:endParaRPr lang="en-US" sz="9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82005" y="4714646"/>
            <a:ext cx="228600" cy="2286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362395" y="4154119"/>
            <a:ext cx="2095805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t="-16524" b="-16524"/>
          <a:stretch/>
        </p:blipFill>
        <p:spPr>
          <a:xfrm>
            <a:off x="7310628" y="4325112"/>
            <a:ext cx="200254" cy="30449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495898" y="47439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Shorter Queues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6499555" y="5010912"/>
            <a:ext cx="182331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 wait time at bottlenecks</a:t>
            </a:r>
            <a:endParaRPr lang="en-US" sz="9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10905" y="4714646"/>
            <a:ext cx="228600" cy="228600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8991295" y="4154119"/>
            <a:ext cx="2095805" cy="1352398"/>
          </a:xfrm>
          <a:prstGeom prst="roundRect">
            <a:avLst>
              <a:gd name="adj" fmla="val 3809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rcRect t="-16524" b="-16524"/>
          <a:stretch/>
        </p:blipFill>
        <p:spPr>
          <a:xfrm>
            <a:off x="9939528" y="4325112"/>
            <a:ext cx="200254" cy="304495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9124798" y="47439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Clearance</a:t>
            </a:r>
            <a:endParaRPr lang="en-US" sz="1200" dirty="0"/>
          </a:p>
        </p:txBody>
      </p:sp>
      <p:sp>
        <p:nvSpPr>
          <p:cNvPr id="41" name="Text 27"/>
          <p:cNvSpPr txBox="1"/>
          <p:nvPr/>
        </p:nvSpPr>
        <p:spPr>
          <a:xfrm>
            <a:off x="9127541" y="5010912"/>
            <a:ext cx="182331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Everyone gets out safer &amp; sooner</a:t>
            </a:r>
            <a:endParaRPr lang="en-US" sz="9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3"/>
          <a:srcRect l="-1" r="-1"/>
          <a:stretch/>
        </p:blipFill>
        <p:spPr>
          <a:xfrm>
            <a:off x="533095" y="5943600"/>
            <a:ext cx="11125505" cy="68580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38505" y="6067044"/>
            <a:ext cx="7105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838505" y="6238951"/>
            <a:ext cx="7677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Lowering the </a:t>
            </a:r>
            <a:r>
              <a:rPr lang="en-US" sz="1500" b="1" dirty="0">
                <a:solidFill>
                  <a:srgbClr val="D17D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load</a:t>
            </a:r>
            <a:r>
              <a:rPr lang="en-US" sz="15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drastically shortens the "long tail" of total evacuation time. </a:t>
            </a:r>
            <a:endParaRPr lang="en-US" sz="15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/>
          <a:srcRect t="-5600" b="-5600"/>
          <a:stretch/>
        </p:blipFill>
        <p:spPr>
          <a:xfrm>
            <a:off x="11077956" y="6096305"/>
            <a:ext cx="342900" cy="381305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533095" y="6590995"/>
            <a:ext cx="2324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 AI • AWS Case Competition</a:t>
            </a:r>
            <a:endParaRPr lang="en-US" sz="900" dirty="0"/>
          </a:p>
        </p:txBody>
      </p:sp>
      <p:sp>
        <p:nvSpPr>
          <p:cNvPr id="47" name="Text 31"/>
          <p:cNvSpPr txBox="1"/>
          <p:nvPr/>
        </p:nvSpPr>
        <p:spPr>
          <a:xfrm>
            <a:off x="694944" y="1390802"/>
            <a:ext cx="21214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vs. Density Curve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095" y="1218895"/>
            <a:ext cx="111255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33095" y="418795"/>
            <a:ext cx="11420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Guiding a </a:t>
            </a:r>
            <a:r>
              <a:rPr lang="en-US" sz="2700" b="1" kern="0" spc="-67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minority</a:t>
            </a: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still improves outcomes for everyone 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33095" y="87599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Sensitivity analysis shows diminishing returns—you don't need 100% compliance to clear bottlenecks.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25105" y="1723644"/>
            <a:ext cx="381305" cy="381305"/>
          </a:xfrm>
          <a:prstGeom prst="ellipse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7660" b="-27660"/>
          <a:stretch/>
        </p:blipFill>
        <p:spPr>
          <a:xfrm>
            <a:off x="8029346" y="1781251"/>
            <a:ext cx="171907" cy="2670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58200" y="1686154"/>
            <a:ext cx="3314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Minority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1990649"/>
            <a:ext cx="32772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Small, well-placed redirections ease pressure on the main exit, preventing the "crush" phase.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925105" y="3041294"/>
            <a:ext cx="381305" cy="381305"/>
          </a:xfrm>
          <a:prstGeom prst="ellipse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26042" b="-26042"/>
          <a:stretch/>
        </p:blipFill>
        <p:spPr>
          <a:xfrm>
            <a:off x="8005572" y="3097987"/>
            <a:ext cx="219456" cy="2670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58200" y="3002890"/>
            <a:ext cx="3314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Universal Benefit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458200" y="3307385"/>
            <a:ext cx="32772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Even non-compliant users benefit from shorter queues created by those who </a:t>
            </a:r>
            <a:r>
              <a:rPr lang="en-US" sz="1300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reroute. 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33095" y="1457554"/>
            <a:ext cx="38405" cy="267005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85800" y="1457554"/>
            <a:ext cx="259049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of Redirecting Users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1514246"/>
            <a:ext cx="11521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Simulation Data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3095" y="1800454"/>
            <a:ext cx="6933895" cy="4486046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2" r="-12"/>
          <a:stretch/>
        </p:blipFill>
        <p:spPr>
          <a:xfrm>
            <a:off x="2478938" y="2095805"/>
            <a:ext cx="1729130" cy="3752698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l="-59" r="-59"/>
          <a:stretch/>
        </p:blipFill>
        <p:spPr>
          <a:xfrm>
            <a:off x="2777033" y="2190902"/>
            <a:ext cx="1133856" cy="247802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777033" y="2190902"/>
            <a:ext cx="1133856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2777033" y="2190902"/>
            <a:ext cx="11338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Optimal ROI Zone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4944" y="1962302"/>
            <a:ext cx="6610198" cy="4162349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761134" y="6362395"/>
            <a:ext cx="58210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&gt;30% redirection, margin gains decrease as secondary routes begin to fill up. 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556309" y="6388913"/>
            <a:ext cx="133502" cy="133502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rcRect l="-2" r="-2"/>
          <a:stretch/>
        </p:blipFill>
        <p:spPr>
          <a:xfrm>
            <a:off x="7925105" y="5162702"/>
            <a:ext cx="3733495" cy="1238098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10000"/>
          </a:blip>
          <a:srcRect l="-347" r="-347"/>
          <a:stretch/>
        </p:blipFill>
        <p:spPr>
          <a:xfrm>
            <a:off x="10858500" y="5315407"/>
            <a:ext cx="647395" cy="5715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8191195" y="5352898"/>
            <a:ext cx="3391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8191195" y="5581498"/>
            <a:ext cx="33631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"Partial compliance is enough to decongest peaks."</a:t>
            </a:r>
            <a:endParaRPr lang="en-US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533095" y="6590995"/>
            <a:ext cx="2324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 AI • AWS Case Competition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095" y="1105510"/>
            <a:ext cx="111255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33095" y="342900"/>
            <a:ext cx="11315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Continuous coordination loop with </a:t>
            </a:r>
            <a:r>
              <a:rPr lang="en-US" sz="2700" b="1" kern="0" spc="-67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guidance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33095" y="761695"/>
            <a:ext cx="11811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intelligent agent orchestrates the crowd by constantly observing and conservatively updating routes.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704942" y="3247949"/>
            <a:ext cx="9144" cy="33055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67705" y="3514954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67705" y="3514954"/>
            <a:ext cx="305410" cy="305410"/>
          </a:xfrm>
          <a:prstGeom prst="rect">
            <a:avLst/>
          </a:prstGeom>
          <a:solidFill>
            <a:srgbClr val="232F3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24905" y="3476549"/>
            <a:ext cx="5458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to Noise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24905" y="3743554"/>
            <a:ext cx="54205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Operates under imperfect data and partial compliance. The system doesn't need to know where </a:t>
            </a:r>
            <a:r>
              <a:rPr lang="en-US" sz="1300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everyone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is, just the aggregate flow. 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67705" y="4481474"/>
            <a:ext cx="304495" cy="3044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67705" y="4481474"/>
            <a:ext cx="305410" cy="305410"/>
          </a:xfrm>
          <a:prstGeom prst="rect">
            <a:avLst/>
          </a:prstGeom>
          <a:solidFill>
            <a:srgbClr val="232F3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324905" y="4443070"/>
            <a:ext cx="5458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Stability First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24905" y="4710074"/>
            <a:ext cx="54205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Prioritizes clarity over churn. We avoid confusing users with constantly changing instructions unless safety is critical.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6" r="-16"/>
          <a:stretch/>
        </p:blipFill>
        <p:spPr>
          <a:xfrm>
            <a:off x="5867705" y="5639105"/>
            <a:ext cx="5790895" cy="7616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172200" y="5790895"/>
            <a:ext cx="4524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6172200" y="5982005"/>
            <a:ext cx="5095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"Simple loop, conservative updates, clear guidance."</a:t>
            </a:r>
            <a:endParaRPr lang="en-US" sz="15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5600" b="-5600"/>
          <a:stretch/>
        </p:blipFill>
        <p:spPr>
          <a:xfrm>
            <a:off x="11087100" y="5829300"/>
            <a:ext cx="342900" cy="38130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33095" y="1304849"/>
            <a:ext cx="11125505" cy="1714500"/>
          </a:xfrm>
          <a:prstGeom prst="roundRect">
            <a:avLst>
              <a:gd name="adj" fmla="val 35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657454" y="1390802"/>
            <a:ext cx="18982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Data Pipeline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16707" b="-16707"/>
          <a:stretch/>
        </p:blipFill>
        <p:spPr>
          <a:xfrm>
            <a:off x="2645359" y="2085746"/>
            <a:ext cx="142646" cy="304495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t="-16707" b="-16707"/>
          <a:stretch/>
        </p:blipFill>
        <p:spPr>
          <a:xfrm>
            <a:off x="4898441" y="2085746"/>
            <a:ext cx="142646" cy="304495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16707" b="-16707"/>
          <a:stretch/>
        </p:blipFill>
        <p:spPr>
          <a:xfrm>
            <a:off x="7150608" y="2085746"/>
            <a:ext cx="142646" cy="304495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rcRect t="-16707" b="-16707"/>
          <a:stretch/>
        </p:blipFill>
        <p:spPr>
          <a:xfrm>
            <a:off x="9403690" y="2085746"/>
            <a:ext cx="142646" cy="30449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533095" y="3247949"/>
            <a:ext cx="38405" cy="267005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 txBox="1"/>
          <p:nvPr/>
        </p:nvSpPr>
        <p:spPr>
          <a:xfrm>
            <a:off x="685800" y="3247949"/>
            <a:ext cx="21717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Coordination Cycle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533095" y="6590995"/>
            <a:ext cx="2324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 AI • AWS Case Competition</a:t>
            </a:r>
            <a:endParaRPr lang="en-US" sz="9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1156716" y="3681374"/>
            <a:ext cx="3619195" cy="2667305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23544" y="1714500"/>
            <a:ext cx="1333195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1476756" y="1890979"/>
            <a:ext cx="228600" cy="3044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326794" y="2272284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Phones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252728" y="2469794"/>
            <a:ext cx="68031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Signals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3176626" y="1714500"/>
            <a:ext cx="1333195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690518" y="1890979"/>
            <a:ext cx="304495" cy="304495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407969" y="2272284"/>
            <a:ext cx="8732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Crowd State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3359506" y="2469794"/>
            <a:ext cx="97566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Density/Flow Est.</a:t>
            </a:r>
            <a:endParaRPr lang="en-US" sz="800" dirty="0"/>
          </a:p>
        </p:txBody>
      </p:sp>
      <p:sp>
        <p:nvSpPr>
          <p:cNvPr id="38" name="Shape 26"/>
          <p:cNvSpPr/>
          <p:nvPr/>
        </p:nvSpPr>
        <p:spPr>
          <a:xfrm>
            <a:off x="5429707" y="1714500"/>
            <a:ext cx="1333195" cy="1047902"/>
          </a:xfrm>
          <a:prstGeom prst="roundRect">
            <a:avLst>
              <a:gd name="adj" fmla="val 6346"/>
            </a:avLst>
          </a:prstGeom>
          <a:solidFill>
            <a:srgbClr val="FFF8EB"/>
          </a:solidFill>
          <a:ln w="25400">
            <a:solidFill>
              <a:srgbClr val="FF990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43600" y="1890979"/>
            <a:ext cx="304495" cy="3044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878678" y="2272284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1000" dirty="0"/>
          </a:p>
        </p:txBody>
      </p:sp>
      <p:sp>
        <p:nvSpPr>
          <p:cNvPr id="41" name="Text 28"/>
          <p:cNvSpPr txBox="1"/>
          <p:nvPr/>
        </p:nvSpPr>
        <p:spPr>
          <a:xfrm>
            <a:off x="5748833" y="2469794"/>
            <a:ext cx="70317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42" name="Shape 29"/>
          <p:cNvSpPr/>
          <p:nvPr/>
        </p:nvSpPr>
        <p:spPr>
          <a:xfrm>
            <a:off x="7681874" y="1714500"/>
            <a:ext cx="1333195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96682" y="1890979"/>
            <a:ext cx="304495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8033918" y="2272284"/>
            <a:ext cx="6355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Planning</a:t>
            </a:r>
            <a:endParaRPr lang="en-US" sz="1000" dirty="0"/>
          </a:p>
        </p:txBody>
      </p:sp>
      <p:sp>
        <p:nvSpPr>
          <p:cNvPr id="45" name="Text 31"/>
          <p:cNvSpPr txBox="1"/>
          <p:nvPr/>
        </p:nvSpPr>
        <p:spPr>
          <a:xfrm>
            <a:off x="7931506" y="2469794"/>
            <a:ext cx="839419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Checker</a:t>
            </a:r>
            <a:endParaRPr lang="en-US" sz="800" dirty="0"/>
          </a:p>
        </p:txBody>
      </p:sp>
      <p:sp>
        <p:nvSpPr>
          <p:cNvPr id="46" name="Shape 32"/>
          <p:cNvSpPr/>
          <p:nvPr/>
        </p:nvSpPr>
        <p:spPr>
          <a:xfrm>
            <a:off x="9934956" y="1714500"/>
            <a:ext cx="1333195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448849" y="1890979"/>
            <a:ext cx="304495" cy="30449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0265054" y="2272284"/>
            <a:ext cx="6803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Guidance</a:t>
            </a:r>
            <a:endParaRPr lang="en-US" sz="1000" dirty="0"/>
          </a:p>
        </p:txBody>
      </p:sp>
      <p:sp>
        <p:nvSpPr>
          <p:cNvPr id="49" name="Text 34"/>
          <p:cNvSpPr txBox="1"/>
          <p:nvPr/>
        </p:nvSpPr>
        <p:spPr>
          <a:xfrm>
            <a:off x="10246766" y="2469794"/>
            <a:ext cx="71414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Notifications</a:t>
            </a:r>
            <a:endParaRPr lang="en-US" sz="8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395728" y="4443070"/>
            <a:ext cx="1143000" cy="1143000"/>
          </a:xfrm>
          <a:prstGeom prst="rect">
            <a:avLst/>
          </a:prstGeom>
        </p:spPr>
      </p:pic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4"/>
          <a:srcRect t="-20192" b="-20192"/>
          <a:stretch/>
        </p:blipFill>
        <p:spPr>
          <a:xfrm>
            <a:off x="2871216" y="4661611"/>
            <a:ext cx="190195" cy="267005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2587752" y="4967021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Guardrails</a:t>
            </a:r>
            <a:endParaRPr lang="en-US" sz="800" dirty="0"/>
          </a:p>
        </p:txBody>
      </p:sp>
      <p:sp>
        <p:nvSpPr>
          <p:cNvPr id="53" name="Text 36"/>
          <p:cNvSpPr txBox="1"/>
          <p:nvPr/>
        </p:nvSpPr>
        <p:spPr>
          <a:xfrm>
            <a:off x="2470709" y="5161788"/>
            <a:ext cx="9976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Conservative Updates</a:t>
            </a:r>
            <a:endParaRPr lang="en-US" sz="800" dirty="0"/>
          </a:p>
        </p:txBody>
      </p:sp>
      <p:sp>
        <p:nvSpPr>
          <p:cNvPr id="54" name="Text 37"/>
          <p:cNvSpPr txBox="1"/>
          <p:nvPr/>
        </p:nvSpPr>
        <p:spPr>
          <a:xfrm>
            <a:off x="2668219" y="5265115"/>
            <a:ext cx="6007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Anti-Flip-Flop</a:t>
            </a:r>
            <a:endParaRPr lang="en-US" sz="800" dirty="0"/>
          </a:p>
        </p:txBody>
      </p:sp>
      <p:sp>
        <p:nvSpPr>
          <p:cNvPr id="55" name="Shape 38"/>
          <p:cNvSpPr/>
          <p:nvPr/>
        </p:nvSpPr>
        <p:spPr>
          <a:xfrm>
            <a:off x="2443277" y="3681374"/>
            <a:ext cx="1047902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5"/>
          <a:srcRect t="-45" b="-45"/>
          <a:stretch/>
        </p:blipFill>
        <p:spPr>
          <a:xfrm>
            <a:off x="2838298" y="3888943"/>
            <a:ext cx="256946" cy="228600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2701138" y="4117543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</a:t>
            </a:r>
            <a:endParaRPr lang="en-US" sz="1100" dirty="0"/>
          </a:p>
        </p:txBody>
      </p:sp>
      <p:sp>
        <p:nvSpPr>
          <p:cNvPr id="58" name="Shape 40"/>
          <p:cNvSpPr/>
          <p:nvPr/>
        </p:nvSpPr>
        <p:spPr>
          <a:xfrm>
            <a:off x="3728923" y="4586630"/>
            <a:ext cx="1047902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4166921" y="4793285"/>
            <a:ext cx="171907" cy="228600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4019702" y="5021885"/>
            <a:ext cx="55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</a:t>
            </a:r>
            <a:endParaRPr lang="en-US" sz="1100" dirty="0"/>
          </a:p>
        </p:txBody>
      </p:sp>
      <p:sp>
        <p:nvSpPr>
          <p:cNvPr id="61" name="Shape 42"/>
          <p:cNvSpPr/>
          <p:nvPr/>
        </p:nvSpPr>
        <p:spPr>
          <a:xfrm>
            <a:off x="2443277" y="5490972"/>
            <a:ext cx="1047902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17"/>
          <a:srcRect t="-45" b="-45"/>
          <a:stretch/>
        </p:blipFill>
        <p:spPr>
          <a:xfrm>
            <a:off x="2838298" y="5698541"/>
            <a:ext cx="256946" cy="228600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2823667" y="5927141"/>
            <a:ext cx="3721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</a:t>
            </a:r>
            <a:endParaRPr lang="en-US" sz="1100" dirty="0"/>
          </a:p>
        </p:txBody>
      </p:sp>
      <p:sp>
        <p:nvSpPr>
          <p:cNvPr id="64" name="Shape 44"/>
          <p:cNvSpPr/>
          <p:nvPr/>
        </p:nvSpPr>
        <p:spPr>
          <a:xfrm>
            <a:off x="1156716" y="4586630"/>
            <a:ext cx="1047902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5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566367" y="4793285"/>
            <a:ext cx="228600" cy="228600"/>
          </a:xfrm>
          <a:prstGeom prst="rect">
            <a:avLst/>
          </a:prstGeom>
        </p:spPr>
      </p:pic>
      <p:sp>
        <p:nvSpPr>
          <p:cNvPr id="66" name="Text 45"/>
          <p:cNvSpPr txBox="1"/>
          <p:nvPr/>
        </p:nvSpPr>
        <p:spPr>
          <a:xfrm>
            <a:off x="1494130" y="502188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095" y="1105510"/>
            <a:ext cx="111255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33095" y="342900"/>
            <a:ext cx="11315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Buildable today using </a:t>
            </a:r>
            <a:r>
              <a:rPr lang="en-US" sz="2700" b="1" kern="0" spc="-67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managed services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33095" y="761695"/>
            <a:ext cx="11811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Serverless, event-driven architecture that scales with crowd size without deep infrastructure management.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8757209" y="5970118"/>
            <a:ext cx="790956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9620402" y="5970118"/>
            <a:ext cx="800100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1"/>
          <p:cNvSpPr/>
          <p:nvPr/>
        </p:nvSpPr>
        <p:spPr>
          <a:xfrm>
            <a:off x="10496398" y="5970118"/>
            <a:ext cx="933602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8C46D64-F927-B778-E068-A1B7B464A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17" y="1105509"/>
            <a:ext cx="10274059" cy="5799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870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3044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Measurable improvements via </a:t>
            </a:r>
            <a:r>
              <a:rPr lang="en-US" sz="2200" b="1" kern="0" spc="-56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drills and pilots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85800"/>
            <a:ext cx="11392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Quantifying safety gains through controlled A/B testing scenarios and simulation.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52144"/>
            <a:ext cx="38405" cy="2286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09905" y="1152144"/>
            <a:ext cx="2873959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Key Performance Indicators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46750" y="1157630"/>
            <a:ext cx="952805" cy="21945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46750" y="1157630"/>
            <a:ext cx="952805" cy="219456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Simulation Targets</a:t>
            </a:r>
            <a:endParaRPr lang="en-US" sz="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457200" y="1457554"/>
            <a:ext cx="6035040" cy="427207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" y="1866290"/>
            <a:ext cx="301020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66344" y="1514246"/>
            <a:ext cx="308610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474720" y="1866290"/>
            <a:ext cx="905256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3474720" y="1514246"/>
            <a:ext cx="962863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Trend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377233" y="1866290"/>
            <a:ext cx="2115007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377233" y="1514246"/>
            <a:ext cx="21909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Impact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66344" y="2338121"/>
            <a:ext cx="30102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847649" y="2009851"/>
            <a:ext cx="26261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Clearance Time 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31409" r="-31409"/>
          <a:stretch/>
        </p:blipFill>
        <p:spPr>
          <a:xfrm>
            <a:off x="580644" y="2042770"/>
            <a:ext cx="190195" cy="1335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474720" y="2338121"/>
            <a:ext cx="9052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3882542" y="2052828"/>
            <a:ext cx="85954" cy="1143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377233" y="2338121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4377233" y="1880921"/>
            <a:ext cx="2190902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full evacuation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66344" y="2805379"/>
            <a:ext cx="30102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847649" y="2476195"/>
            <a:ext cx="26261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Peak Bottleneck Density 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21233" r="-21233"/>
          <a:stretch/>
        </p:blipFill>
        <p:spPr>
          <a:xfrm>
            <a:off x="580644" y="2510028"/>
            <a:ext cx="190195" cy="13350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474720" y="2805379"/>
            <a:ext cx="9052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3882542" y="2519172"/>
            <a:ext cx="85954" cy="1143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377233" y="2805379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4377233" y="2348179"/>
            <a:ext cx="2190902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crush injuries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66344" y="3271723"/>
            <a:ext cx="30102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 txBox="1"/>
          <p:nvPr/>
        </p:nvSpPr>
        <p:spPr>
          <a:xfrm>
            <a:off x="847649" y="2943454"/>
            <a:ext cx="26261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Exit Utilization Balance 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rcRect l="-6986" r="-6986"/>
          <a:stretch/>
        </p:blipFill>
        <p:spPr>
          <a:xfrm>
            <a:off x="580644" y="2976372"/>
            <a:ext cx="190195" cy="13350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3474720" y="3271723"/>
            <a:ext cx="9052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3882542" y="2986430"/>
            <a:ext cx="85954" cy="11430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4377233" y="3271723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 txBox="1"/>
          <p:nvPr/>
        </p:nvSpPr>
        <p:spPr>
          <a:xfrm>
            <a:off x="4377233" y="2814523"/>
            <a:ext cx="2190902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Optimizes building egress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66344" y="3738982"/>
            <a:ext cx="30102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847649" y="3409798"/>
            <a:ext cx="26261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Hotspot Duration </a:t>
            </a:r>
            <a:endParaRPr lang="en-US" sz="10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l="-31409" r="-31409"/>
          <a:stretch/>
        </p:blipFill>
        <p:spPr>
          <a:xfrm>
            <a:off x="580644" y="3443630"/>
            <a:ext cx="190195" cy="133502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3474720" y="3738982"/>
            <a:ext cx="9052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3882542" y="3452774"/>
            <a:ext cx="85954" cy="11430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377233" y="3738982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/>
          <p:cNvSpPr txBox="1"/>
          <p:nvPr/>
        </p:nvSpPr>
        <p:spPr>
          <a:xfrm>
            <a:off x="4377233" y="3281782"/>
            <a:ext cx="2190902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exposure time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847649" y="3877056"/>
            <a:ext cx="26261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Operator Visibility </a:t>
            </a:r>
            <a:endParaRPr lang="en-US" sz="10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rcRect l="-13318" r="-13318"/>
          <a:stretch/>
        </p:blipFill>
        <p:spPr>
          <a:xfrm>
            <a:off x="580644" y="3909974"/>
            <a:ext cx="190195" cy="133502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3882542" y="3919118"/>
            <a:ext cx="85954" cy="11430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4377233" y="3748126"/>
            <a:ext cx="2190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situational awareness</a:t>
            </a:r>
            <a:endParaRPr lang="en-US" sz="900" dirty="0"/>
          </a:p>
        </p:txBody>
      </p:sp>
      <p:sp>
        <p:nvSpPr>
          <p:cNvPr id="50" name="Shape 36"/>
          <p:cNvSpPr/>
          <p:nvPr/>
        </p:nvSpPr>
        <p:spPr>
          <a:xfrm>
            <a:off x="6796735" y="1152144"/>
            <a:ext cx="38405" cy="228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7"/>
          <p:cNvSpPr txBox="1"/>
          <p:nvPr/>
        </p:nvSpPr>
        <p:spPr>
          <a:xfrm>
            <a:off x="6949440" y="1152144"/>
            <a:ext cx="128747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Plan</a:t>
            </a:r>
            <a:endParaRPr lang="en-US" sz="12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2"/>
          <a:srcRect l="-28" r="-28"/>
          <a:stretch/>
        </p:blipFill>
        <p:spPr>
          <a:xfrm>
            <a:off x="6796735" y="5195621"/>
            <a:ext cx="4937760" cy="533095"/>
          </a:xfrm>
          <a:prstGeom prst="rect">
            <a:avLst/>
          </a:prstGeom>
        </p:spPr>
      </p:pic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6930238" y="5329123"/>
            <a:ext cx="85954" cy="95098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7092086" y="5290718"/>
            <a:ext cx="3400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Causal Validation:</a:t>
            </a:r>
            <a:r>
              <a:rPr lang="en-US" sz="9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Prove bottleneck relief shortens time.</a:t>
            </a:r>
            <a:endParaRPr lang="en-US" sz="900" dirty="0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6930238" y="5519318"/>
            <a:ext cx="85954" cy="95098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7092086" y="5481828"/>
            <a:ext cx="31857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Risk:</a:t>
            </a:r>
            <a:r>
              <a:rPr lang="en-US" sz="9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Incremental testing in single-building MVP.</a:t>
            </a:r>
            <a:endParaRPr lang="en-US" sz="9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4"/>
          <a:srcRect l="-8" r="-8"/>
          <a:stretch/>
        </p:blipFill>
        <p:spPr>
          <a:xfrm>
            <a:off x="457200" y="5843930"/>
            <a:ext cx="11277295" cy="642823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724205" y="5967374"/>
            <a:ext cx="6868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FF99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800" dirty="0"/>
          </a:p>
        </p:txBody>
      </p:sp>
      <p:sp>
        <p:nvSpPr>
          <p:cNvPr id="59" name="Text 41"/>
          <p:cNvSpPr txBox="1"/>
          <p:nvPr/>
        </p:nvSpPr>
        <p:spPr>
          <a:xfrm>
            <a:off x="724205" y="6148426"/>
            <a:ext cx="7439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 move from "guessing" safety to </a:t>
            </a:r>
            <a:r>
              <a:rPr lang="en-US" sz="1300" b="1" dirty="0">
                <a:solidFill>
                  <a:srgbClr val="D17D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empirically measuring</a:t>
            </a:r>
            <a:r>
              <a:rPr lang="en-US" sz="1300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improving flow dynamics. </a:t>
            </a:r>
            <a:endParaRPr lang="en-US" sz="1300" dirty="0"/>
          </a:p>
        </p:txBody>
      </p:sp>
      <p:sp>
        <p:nvSpPr>
          <p:cNvPr id="60" name="Shape 42"/>
          <p:cNvSpPr/>
          <p:nvPr/>
        </p:nvSpPr>
        <p:spPr>
          <a:xfrm>
            <a:off x="11153851" y="5974690"/>
            <a:ext cx="381305" cy="381305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5"/>
          <a:srcRect t="-20192" b="-20192"/>
          <a:stretch/>
        </p:blipFill>
        <p:spPr>
          <a:xfrm>
            <a:off x="11248949" y="6031382"/>
            <a:ext cx="190195" cy="267005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457200" y="6562649"/>
            <a:ext cx="193852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 AI • AWS Case Competition</a:t>
            </a:r>
            <a:endParaRPr lang="en-US" sz="800" dirty="0"/>
          </a:p>
        </p:txBody>
      </p:sp>
      <p:sp>
        <p:nvSpPr>
          <p:cNvPr id="63" name="Text 44"/>
          <p:cNvSpPr txBox="1"/>
          <p:nvPr/>
        </p:nvSpPr>
        <p:spPr>
          <a:xfrm>
            <a:off x="10425074" y="6577279"/>
            <a:ext cx="15645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*KPIs based on simulation models</a:t>
            </a:r>
            <a:endParaRPr lang="en-US" sz="800" dirty="0"/>
          </a:p>
        </p:txBody>
      </p:sp>
      <p:sp>
        <p:nvSpPr>
          <p:cNvPr id="64" name="Shape 45"/>
          <p:cNvSpPr/>
          <p:nvPr/>
        </p:nvSpPr>
        <p:spPr>
          <a:xfrm>
            <a:off x="3792017" y="1976018"/>
            <a:ext cx="267005" cy="2670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46"/>
          <p:cNvSpPr/>
          <p:nvPr/>
        </p:nvSpPr>
        <p:spPr>
          <a:xfrm>
            <a:off x="3792017" y="2443277"/>
            <a:ext cx="267005" cy="2670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47"/>
          <p:cNvSpPr/>
          <p:nvPr/>
        </p:nvSpPr>
        <p:spPr>
          <a:xfrm>
            <a:off x="3792017" y="2909621"/>
            <a:ext cx="267005" cy="2670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48"/>
          <p:cNvSpPr/>
          <p:nvPr/>
        </p:nvSpPr>
        <p:spPr>
          <a:xfrm>
            <a:off x="3792017" y="3376879"/>
            <a:ext cx="267005" cy="2670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49"/>
          <p:cNvSpPr/>
          <p:nvPr/>
        </p:nvSpPr>
        <p:spPr>
          <a:xfrm>
            <a:off x="3792017" y="3843223"/>
            <a:ext cx="267005" cy="2670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17" descr="preencoded.png"/>
          <p:cNvPicPr>
            <a:picLocks noChangeAspect="1"/>
          </p:cNvPicPr>
          <p:nvPr/>
        </p:nvPicPr>
        <p:blipFill>
          <a:blip r:embed="rId16"/>
          <a:srcRect l="-396" r="-396"/>
          <a:stretch/>
        </p:blipFill>
        <p:spPr>
          <a:xfrm>
            <a:off x="7130491" y="1600200"/>
            <a:ext cx="19202" cy="3376879"/>
          </a:xfrm>
          <a:prstGeom prst="rect">
            <a:avLst/>
          </a:prstGeom>
        </p:spPr>
      </p:pic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987845" y="1457554"/>
            <a:ext cx="267005" cy="267005"/>
          </a:xfrm>
          <a:prstGeom prst="rect">
            <a:avLst/>
          </a:prstGeom>
        </p:spPr>
      </p:pic>
      <p:sp>
        <p:nvSpPr>
          <p:cNvPr id="71" name="Shape 50"/>
          <p:cNvSpPr/>
          <p:nvPr/>
        </p:nvSpPr>
        <p:spPr>
          <a:xfrm>
            <a:off x="6987845" y="1457554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51"/>
          <p:cNvSpPr/>
          <p:nvPr/>
        </p:nvSpPr>
        <p:spPr>
          <a:xfrm>
            <a:off x="6987845" y="145755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73" name="Shape 52"/>
          <p:cNvSpPr/>
          <p:nvPr/>
        </p:nvSpPr>
        <p:spPr>
          <a:xfrm>
            <a:off x="7368235" y="1457554"/>
            <a:ext cx="4371746" cy="514807"/>
          </a:xfrm>
          <a:prstGeom prst="roundRect">
            <a:avLst>
              <a:gd name="adj" fmla="val 197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3"/>
          <p:cNvSpPr txBox="1"/>
          <p:nvPr/>
        </p:nvSpPr>
        <p:spPr>
          <a:xfrm>
            <a:off x="7492594" y="1543507"/>
            <a:ext cx="4239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Drill</a:t>
            </a:r>
            <a:endParaRPr lang="en-US" sz="900" dirty="0"/>
          </a:p>
        </p:txBody>
      </p:sp>
      <p:sp>
        <p:nvSpPr>
          <p:cNvPr id="75" name="Text 54"/>
          <p:cNvSpPr txBox="1"/>
          <p:nvPr/>
        </p:nvSpPr>
        <p:spPr>
          <a:xfrm>
            <a:off x="7492594" y="1747418"/>
            <a:ext cx="4239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evacuation (static signage). Measure queues.</a:t>
            </a:r>
            <a:endParaRPr lang="en-US" sz="800" dirty="0"/>
          </a:p>
        </p:txBody>
      </p:sp>
      <p:pic>
        <p:nvPicPr>
          <p:cNvPr id="76" name="Image 19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987845" y="2097634"/>
            <a:ext cx="267005" cy="267005"/>
          </a:xfrm>
          <a:prstGeom prst="rect">
            <a:avLst/>
          </a:prstGeom>
        </p:spPr>
      </p:pic>
      <p:sp>
        <p:nvSpPr>
          <p:cNvPr id="77" name="Shape 55"/>
          <p:cNvSpPr/>
          <p:nvPr/>
        </p:nvSpPr>
        <p:spPr>
          <a:xfrm>
            <a:off x="6987845" y="2097634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56"/>
          <p:cNvSpPr/>
          <p:nvPr/>
        </p:nvSpPr>
        <p:spPr>
          <a:xfrm>
            <a:off x="6987845" y="209763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00" dirty="0"/>
          </a:p>
        </p:txBody>
      </p:sp>
      <p:sp>
        <p:nvSpPr>
          <p:cNvPr id="79" name="Shape 57"/>
          <p:cNvSpPr/>
          <p:nvPr/>
        </p:nvSpPr>
        <p:spPr>
          <a:xfrm>
            <a:off x="7368235" y="2097634"/>
            <a:ext cx="4371746" cy="514807"/>
          </a:xfrm>
          <a:prstGeom prst="roundRect">
            <a:avLst>
              <a:gd name="adj" fmla="val 197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58"/>
          <p:cNvSpPr txBox="1"/>
          <p:nvPr/>
        </p:nvSpPr>
        <p:spPr>
          <a:xfrm>
            <a:off x="7492594" y="2183587"/>
            <a:ext cx="4239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SafeRoute-Enabled</a:t>
            </a:r>
            <a:endParaRPr lang="en-US" sz="900" dirty="0"/>
          </a:p>
        </p:txBody>
      </p:sp>
      <p:sp>
        <p:nvSpPr>
          <p:cNvPr id="81" name="Text 59"/>
          <p:cNvSpPr txBox="1"/>
          <p:nvPr/>
        </p:nvSpPr>
        <p:spPr>
          <a:xfrm>
            <a:off x="7492594" y="2388413"/>
            <a:ext cx="4239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Activate Agent. Push guidance to users. Record telemetry.</a:t>
            </a:r>
            <a:endParaRPr lang="en-US" sz="800" dirty="0"/>
          </a:p>
        </p:txBody>
      </p:sp>
      <p:pic>
        <p:nvPicPr>
          <p:cNvPr id="82" name="Image 20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987845" y="2738628"/>
            <a:ext cx="267005" cy="267005"/>
          </a:xfrm>
          <a:prstGeom prst="rect">
            <a:avLst/>
          </a:prstGeom>
        </p:spPr>
      </p:pic>
      <p:sp>
        <p:nvSpPr>
          <p:cNvPr id="83" name="Shape 60"/>
          <p:cNvSpPr/>
          <p:nvPr/>
        </p:nvSpPr>
        <p:spPr>
          <a:xfrm>
            <a:off x="6987845" y="2738628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61"/>
          <p:cNvSpPr/>
          <p:nvPr/>
        </p:nvSpPr>
        <p:spPr>
          <a:xfrm>
            <a:off x="6987845" y="2738628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00" dirty="0"/>
          </a:p>
        </p:txBody>
      </p:sp>
      <p:sp>
        <p:nvSpPr>
          <p:cNvPr id="85" name="Shape 62"/>
          <p:cNvSpPr/>
          <p:nvPr/>
        </p:nvSpPr>
        <p:spPr>
          <a:xfrm>
            <a:off x="7368235" y="2738628"/>
            <a:ext cx="4371746" cy="514807"/>
          </a:xfrm>
          <a:prstGeom prst="roundRect">
            <a:avLst>
              <a:gd name="adj" fmla="val 197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3"/>
          <p:cNvSpPr txBox="1"/>
          <p:nvPr/>
        </p:nvSpPr>
        <p:spPr>
          <a:xfrm>
            <a:off x="7492594" y="2824582"/>
            <a:ext cx="4239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KPIs</a:t>
            </a:r>
            <a:endParaRPr lang="en-US" sz="900" dirty="0"/>
          </a:p>
        </p:txBody>
      </p:sp>
      <p:sp>
        <p:nvSpPr>
          <p:cNvPr id="87" name="Text 64"/>
          <p:cNvSpPr txBox="1"/>
          <p:nvPr/>
        </p:nvSpPr>
        <p:spPr>
          <a:xfrm>
            <a:off x="7492594" y="3029407"/>
            <a:ext cx="4239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delta in clearance time and density vs baseline.</a:t>
            </a:r>
            <a:endParaRPr lang="en-US" sz="800" dirty="0"/>
          </a:p>
        </p:txBody>
      </p:sp>
      <p:pic>
        <p:nvPicPr>
          <p:cNvPr id="88" name="Image 21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987845" y="3378708"/>
            <a:ext cx="267005" cy="267005"/>
          </a:xfrm>
          <a:prstGeom prst="rect">
            <a:avLst/>
          </a:prstGeom>
        </p:spPr>
      </p:pic>
      <p:sp>
        <p:nvSpPr>
          <p:cNvPr id="89" name="Shape 65"/>
          <p:cNvSpPr/>
          <p:nvPr/>
        </p:nvSpPr>
        <p:spPr>
          <a:xfrm>
            <a:off x="6987845" y="3378708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66"/>
          <p:cNvSpPr/>
          <p:nvPr/>
        </p:nvSpPr>
        <p:spPr>
          <a:xfrm>
            <a:off x="6987845" y="3378708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800" dirty="0"/>
          </a:p>
        </p:txBody>
      </p:sp>
      <p:sp>
        <p:nvSpPr>
          <p:cNvPr id="91" name="Shape 67"/>
          <p:cNvSpPr/>
          <p:nvPr/>
        </p:nvSpPr>
        <p:spPr>
          <a:xfrm>
            <a:off x="7368235" y="3378708"/>
            <a:ext cx="4371746" cy="514807"/>
          </a:xfrm>
          <a:prstGeom prst="roundRect">
            <a:avLst>
              <a:gd name="adj" fmla="val 197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68"/>
          <p:cNvSpPr txBox="1"/>
          <p:nvPr/>
        </p:nvSpPr>
        <p:spPr>
          <a:xfrm>
            <a:off x="7492594" y="3464662"/>
            <a:ext cx="4239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Iterate &amp; Tune</a:t>
            </a:r>
            <a:endParaRPr lang="en-US" sz="900" dirty="0"/>
          </a:p>
        </p:txBody>
      </p:sp>
      <p:sp>
        <p:nvSpPr>
          <p:cNvPr id="93" name="Text 69"/>
          <p:cNvSpPr txBox="1"/>
          <p:nvPr/>
        </p:nvSpPr>
        <p:spPr>
          <a:xfrm>
            <a:off x="7492594" y="3669487"/>
            <a:ext cx="4239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Agent constraints based on observed friction.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793</Words>
  <Application>Microsoft Office PowerPoint</Application>
  <PresentationFormat>Widescreen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G Sriram</cp:lastModifiedBy>
  <cp:revision>3</cp:revision>
  <dcterms:created xsi:type="dcterms:W3CDTF">2026-02-08T19:40:09Z</dcterms:created>
  <dcterms:modified xsi:type="dcterms:W3CDTF">2026-02-10T01:21:08Z</dcterms:modified>
</cp:coreProperties>
</file>